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DM Sans" charset="1" panose="00000000000000000000"/>
      <p:regular r:id="rId16"/>
    </p:embeddedFont>
    <p:embeddedFont>
      <p:font typeface="DM Sans Bold" charset="1" panose="00000000000000000000"/>
      <p:regular r:id="rId17"/>
    </p:embeddedFont>
    <p:embeddedFont>
      <p:font typeface="Helvetica World" charset="1" panose="020B05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png"/><Relationship Id="rId7"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image" Target="../media/image1.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2755947" y="3144259"/>
            <a:ext cx="5532053" cy="7142741"/>
          </a:xfrm>
          <a:custGeom>
            <a:avLst/>
            <a:gdLst/>
            <a:ahLst/>
            <a:cxnLst/>
            <a:rect r="r" b="b" t="t" l="l"/>
            <a:pathLst>
              <a:path h="7142741" w="5532053">
                <a:moveTo>
                  <a:pt x="0" y="0"/>
                </a:moveTo>
                <a:lnTo>
                  <a:pt x="5532053" y="0"/>
                </a:lnTo>
                <a:lnTo>
                  <a:pt x="5532053" y="7142741"/>
                </a:lnTo>
                <a:lnTo>
                  <a:pt x="0" y="7142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518219" y="1432395"/>
            <a:ext cx="343740" cy="47625"/>
            <a:chOff x="0" y="0"/>
            <a:chExt cx="90532" cy="12543"/>
          </a:xfrm>
        </p:grpSpPr>
        <p:sp>
          <p:nvSpPr>
            <p:cNvPr name="Freeform 4" id="4"/>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5" id="5"/>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0" y="0"/>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28700" y="8805470"/>
            <a:ext cx="3401658" cy="452830"/>
            <a:chOff x="0" y="0"/>
            <a:chExt cx="895910" cy="119264"/>
          </a:xfrm>
        </p:grpSpPr>
        <p:sp>
          <p:nvSpPr>
            <p:cNvPr name="Freeform 8" id="8"/>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9" id="9"/>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1028700" y="3786580"/>
            <a:ext cx="13569198" cy="2447139"/>
          </a:xfrm>
          <a:prstGeom prst="rect">
            <a:avLst/>
          </a:prstGeom>
        </p:spPr>
        <p:txBody>
          <a:bodyPr anchor="t" rtlCol="false" tIns="0" lIns="0" bIns="0" rIns="0">
            <a:spAutoFit/>
          </a:bodyPr>
          <a:lstStyle/>
          <a:p>
            <a:pPr algn="l">
              <a:lnSpc>
                <a:spcPts val="20058"/>
              </a:lnSpc>
              <a:spcBef>
                <a:spcPct val="0"/>
              </a:spcBef>
            </a:pPr>
            <a:r>
              <a:rPr lang="en-US" sz="14327" spc="-1103">
                <a:solidFill>
                  <a:srgbClr val="000000"/>
                </a:solidFill>
                <a:latin typeface="DM Sans"/>
                <a:ea typeface="DM Sans"/>
                <a:cs typeface="DM Sans"/>
                <a:sym typeface="DM Sans"/>
              </a:rPr>
              <a:t>Company Profile</a:t>
            </a:r>
          </a:p>
        </p:txBody>
      </p:sp>
      <p:sp>
        <p:nvSpPr>
          <p:cNvPr name="TextBox 11" id="1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2" id="1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3" id="1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4" id="14"/>
          <p:cNvSpPr txBox="true"/>
          <p:nvPr/>
        </p:nvSpPr>
        <p:spPr>
          <a:xfrm rot="0">
            <a:off x="1028700" y="3360601"/>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5" id="15"/>
          <p:cNvSpPr txBox="true"/>
          <p:nvPr/>
        </p:nvSpPr>
        <p:spPr>
          <a:xfrm rot="0">
            <a:off x="1305960"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grpSp>
        <p:nvGrpSpPr>
          <p:cNvPr name="Group 16" id="16"/>
          <p:cNvGrpSpPr/>
          <p:nvPr/>
        </p:nvGrpSpPr>
        <p:grpSpPr>
          <a:xfrm rot="-2700000">
            <a:off x="12589265" y="3323377"/>
            <a:ext cx="504343" cy="504343"/>
            <a:chOff x="0" y="0"/>
            <a:chExt cx="132831" cy="132831"/>
          </a:xfrm>
        </p:grpSpPr>
        <p:sp>
          <p:nvSpPr>
            <p:cNvPr name="Freeform 17" id="17"/>
            <p:cNvSpPr/>
            <p:nvPr/>
          </p:nvSpPr>
          <p:spPr>
            <a:xfrm flipH="false" flipV="false" rot="0">
              <a:off x="0" y="0"/>
              <a:ext cx="132831" cy="132831"/>
            </a:xfrm>
            <a:custGeom>
              <a:avLst/>
              <a:gdLst/>
              <a:ahLst/>
              <a:cxnLst/>
              <a:rect r="r" b="b" t="t" l="l"/>
              <a:pathLst>
                <a:path h="132831" w="132831">
                  <a:moveTo>
                    <a:pt x="0" y="0"/>
                  </a:moveTo>
                  <a:lnTo>
                    <a:pt x="132831" y="0"/>
                  </a:lnTo>
                  <a:lnTo>
                    <a:pt x="132831" y="132831"/>
                  </a:lnTo>
                  <a:lnTo>
                    <a:pt x="0" y="132831"/>
                  </a:lnTo>
                  <a:close/>
                </a:path>
              </a:pathLst>
            </a:custGeom>
            <a:solidFill>
              <a:srgbClr val="F8BC00"/>
            </a:solidFill>
          </p:spPr>
        </p:sp>
        <p:sp>
          <p:nvSpPr>
            <p:cNvPr name="TextBox 18" id="18"/>
            <p:cNvSpPr txBox="true"/>
            <p:nvPr/>
          </p:nvSpPr>
          <p:spPr>
            <a:xfrm>
              <a:off x="0" y="-38100"/>
              <a:ext cx="132831" cy="170931"/>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2700000">
            <a:off x="6866660" y="7088679"/>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a:p>
            <a:pPr/>
            <a:r>
              <a:t>Narrow or Weak AI: Designed for specific tasks (e.g., spam filtering)</a:t>
            </a:r>
          </a:p>
          <a:p>
            <a:pPr/>
            <a:r>
              <a:t>General or Strong AI: Hypothetical; possesses human-level intelligence</a:t>
            </a:r>
          </a:p>
          <a:p>
            <a:pPr/>
            <a:r>
              <a:t>Super AI: Hypothetical; surpasses human intelligence in all aspects</a:t>
            </a:r>
          </a:p>
          <a:p>
            <a:pPr/>
            <a:r>
              <a:t>Reactive Machines: React to current situations (e.g., Deep Blue)</a:t>
            </a:r>
          </a:p>
          <a:p>
            <a:pPr/>
            <a:r>
              <a:t>Limited Memory: Uses past experiences to inform future decisions (e.g., self-driving cars)</a:t>
            </a:r>
          </a:p>
        </p:txBody>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657027"/>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2294516"/>
            <a:ext cx="11248919" cy="1642110"/>
          </a:xfrm>
          <a:prstGeom prst="rect">
            <a:avLst/>
          </a:prstGeom>
        </p:spPr>
        <p:txBody>
          <a:bodyPr anchor="t" rtlCol="false" tIns="0" lIns="0" bIns="0" rIns="0">
            <a:spAutoFit/>
          </a:bodyPr>
          <a:lstStyle/>
          <a:p>
            <a:pPr algn="ctr">
              <a:lnSpc>
                <a:spcPts val="13439"/>
              </a:lnSpc>
              <a:spcBef>
                <a:spcPct val="0"/>
              </a:spcBef>
            </a:pPr>
            <a:r>
              <a:rPr lang="en-US" sz="9600" spc="-739">
                <a:solidFill>
                  <a:srgbClr val="000000"/>
                </a:solidFill>
                <a:latin typeface="DM Sans"/>
                <a:ea typeface="DM Sans"/>
                <a:cs typeface="DM Sans"/>
                <a:sym typeface="DM Sans"/>
              </a:rPr>
              <a:t>Introduction</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8" id="18"/>
          <p:cNvSpPr txBox="true"/>
          <p:nvPr/>
        </p:nvSpPr>
        <p:spPr>
          <a:xfrm rot="0">
            <a:off x="5588938" y="4543606"/>
            <a:ext cx="7110123" cy="2830830"/>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Molestie venenatis ut fusce dapibus inceptos maecenas. Luctus magnis tortor scelerisque consectetur tortor class magna elementum? Taciti dolor magna fringilla fames et.</a:t>
            </a:r>
          </a:p>
        </p:txBody>
      </p:sp>
      <p:grpSp>
        <p:nvGrpSpPr>
          <p:cNvPr name="Group 19" id="19"/>
          <p:cNvGrpSpPr/>
          <p:nvPr/>
        </p:nvGrpSpPr>
        <p:grpSpPr>
          <a:xfrm rot="-2700000">
            <a:off x="15484336" y="4657027"/>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1312569" y="2884024"/>
            <a:ext cx="5946731" cy="7402976"/>
            <a:chOff x="0" y="0"/>
            <a:chExt cx="921304" cy="1146915"/>
          </a:xfrm>
        </p:grpSpPr>
        <p:sp>
          <p:nvSpPr>
            <p:cNvPr name="Freeform 9" id="9"/>
            <p:cNvSpPr/>
            <p:nvPr/>
          </p:nvSpPr>
          <p:spPr>
            <a:xfrm flipH="false" flipV="false" rot="0">
              <a:off x="0" y="0"/>
              <a:ext cx="921304" cy="1146915"/>
            </a:xfrm>
            <a:custGeom>
              <a:avLst/>
              <a:gdLst/>
              <a:ahLst/>
              <a:cxnLst/>
              <a:rect r="r" b="b" t="t" l="l"/>
              <a:pathLst>
                <a:path h="1146915" w="921304">
                  <a:moveTo>
                    <a:pt x="0" y="0"/>
                  </a:moveTo>
                  <a:lnTo>
                    <a:pt x="921304" y="0"/>
                  </a:lnTo>
                  <a:lnTo>
                    <a:pt x="921304" y="1146915"/>
                  </a:lnTo>
                  <a:lnTo>
                    <a:pt x="0" y="1146915"/>
                  </a:lnTo>
                  <a:close/>
                </a:path>
              </a:pathLst>
            </a:custGeom>
            <a:blipFill>
              <a:blip r:embed="rId2"/>
              <a:stretch>
                <a:fillRect l="0" t="-10284" r="0" b="-10284"/>
              </a:stretch>
            </a:blipFill>
          </p:spPr>
        </p:sp>
      </p:grpSp>
      <p:sp>
        <p:nvSpPr>
          <p:cNvPr name="Freeform 10" id="10"/>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a:p>
            <a:pPr/>
            <a:r>
              <a:t>Healthcare: Diagnostics, drug discovery, personalized medicine</a:t>
            </a:r>
          </a:p>
          <a:p>
            <a:pPr/>
            <a:r>
              <a:t>Finance: Fraud detection, algorithmic trading, risk management</a:t>
            </a:r>
          </a:p>
          <a:p>
            <a:pPr/>
            <a:r>
              <a:t>Transportation: Self-driving cars, traffic optimization, logistics</a:t>
            </a:r>
          </a:p>
          <a:p>
            <a:pPr/>
            <a:r>
              <a:t>Manufacturing: Automation, quality control, predictive maintenance</a:t>
            </a:r>
          </a:p>
          <a:p>
            <a:pPr/>
            <a:r>
              <a:t>Customer Service: Chatbots, virtual assistants, personalized recommendations</a:t>
            </a:r>
          </a:p>
        </p:txBody>
      </p:sp>
      <p:grpSp>
        <p:nvGrpSpPr>
          <p:cNvPr name="Group 11" id="11"/>
          <p:cNvGrpSpPr/>
          <p:nvPr/>
        </p:nvGrpSpPr>
        <p:grpSpPr>
          <a:xfrm rot="-2700000">
            <a:off x="8760515" y="6426667"/>
            <a:ext cx="317690" cy="317690"/>
            <a:chOff x="0" y="0"/>
            <a:chExt cx="83671" cy="83671"/>
          </a:xfrm>
        </p:grpSpPr>
        <p:sp>
          <p:nvSpPr>
            <p:cNvPr name="Freeform 12" id="12"/>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3" id="13"/>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028700" y="2461576"/>
            <a:ext cx="8965765"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About Company</a:t>
            </a:r>
          </a:p>
        </p:txBody>
      </p:sp>
      <p:sp>
        <p:nvSpPr>
          <p:cNvPr name="TextBox 15" id="15"/>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6" id="16"/>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7" id="17"/>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8" id="18"/>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9" id="19"/>
          <p:cNvSpPr txBox="true"/>
          <p:nvPr/>
        </p:nvSpPr>
        <p:spPr>
          <a:xfrm rot="0">
            <a:off x="1028700" y="4766164"/>
            <a:ext cx="6089201" cy="34594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a:t>
            </a:r>
          </a:p>
          <a:p>
            <a:pPr algn="l">
              <a:lnSpc>
                <a:spcPts val="2520"/>
              </a:lnSpc>
              <a:spcBef>
                <a:spcPct val="0"/>
              </a:spcBef>
            </a:pPr>
          </a:p>
          <a:p>
            <a:pPr algn="l">
              <a:lnSpc>
                <a:spcPts val="2520"/>
              </a:lnSpc>
              <a:spcBef>
                <a:spcPct val="0"/>
              </a:spcBef>
            </a:pPr>
            <a:r>
              <a:rPr lang="en-US" sz="1800">
                <a:solidFill>
                  <a:srgbClr val="000000"/>
                </a:solidFill>
                <a:latin typeface="Helvetica World"/>
                <a:ea typeface="Helvetica World"/>
                <a:cs typeface="Helvetica World"/>
                <a:sym typeface="Helvetica World"/>
              </a:rPr>
              <a:t>Molestie venenatis ut fusce dapibus inceptos maecenas. Luctus magnis tortor scelerisque consectetur tortor class magna elementum? Taciti dolor magna fringilla fames 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1170099"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10380822" y="4862074"/>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0380822" y="6884723"/>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3197269" y="0"/>
            <a:ext cx="5735093" cy="10287000"/>
            <a:chOff x="0" y="0"/>
            <a:chExt cx="888516" cy="1593725"/>
          </a:xfrm>
        </p:grpSpPr>
        <p:sp>
          <p:nvSpPr>
            <p:cNvPr name="Freeform 15" id="15"/>
            <p:cNvSpPr/>
            <p:nvPr/>
          </p:nvSpPr>
          <p:spPr>
            <a:xfrm flipH="false" flipV="false" rot="0">
              <a:off x="0" y="0"/>
              <a:ext cx="888516" cy="1593725"/>
            </a:xfrm>
            <a:custGeom>
              <a:avLst/>
              <a:gdLst/>
              <a:ahLst/>
              <a:cxnLst/>
              <a:rect r="r" b="b" t="t" l="l"/>
              <a:pathLst>
                <a:path h="1593725" w="888516">
                  <a:moveTo>
                    <a:pt x="0" y="0"/>
                  </a:moveTo>
                  <a:lnTo>
                    <a:pt x="888516" y="0"/>
                  </a:lnTo>
                  <a:lnTo>
                    <a:pt x="888516" y="1593725"/>
                  </a:lnTo>
                  <a:lnTo>
                    <a:pt x="0" y="1593725"/>
                  </a:lnTo>
                  <a:close/>
                </a:path>
              </a:pathLst>
            </a:custGeom>
            <a:blipFill>
              <a:blip r:embed="rId2"/>
              <a:stretch>
                <a:fillRect l="-9864" t="0" r="-9864" b="0"/>
              </a:stretch>
            </a:blipFill>
          </p:spPr>
        </p:sp>
      </p:grpSp>
      <p:sp>
        <p:nvSpPr>
          <p:cNvPr name="Freeform 16" id="16"/>
          <p:cNvSpPr/>
          <p:nvPr/>
        </p:nvSpPr>
        <p:spPr>
          <a:xfrm flipH="true" flipV="false" rot="0">
            <a:off x="0" y="2860226"/>
            <a:ext cx="5752036" cy="7426774"/>
          </a:xfrm>
          <a:custGeom>
            <a:avLst/>
            <a:gdLst/>
            <a:ahLst/>
            <a:cxnLst/>
            <a:rect r="r" b="b" t="t" l="l"/>
            <a:pathLst>
              <a:path h="7426774" w="5752036">
                <a:moveTo>
                  <a:pt x="5752036" y="0"/>
                </a:moveTo>
                <a:lnTo>
                  <a:pt x="0" y="0"/>
                </a:lnTo>
                <a:lnTo>
                  <a:pt x="0" y="7426774"/>
                </a:lnTo>
                <a:lnTo>
                  <a:pt x="5752036" y="7426774"/>
                </a:lnTo>
                <a:lnTo>
                  <a:pt x="575203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0332537" y="2461576"/>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Vision</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11170099" y="4766164"/>
            <a:ext cx="6089201" cy="1573530"/>
          </a:xfrm>
          <a:prstGeom prst="rect">
            <a:avLst/>
          </a:prstGeom>
        </p:spPr>
        <p:txBody>
          <a:bodyPr anchor="t" rtlCol="false" tIns="0" lIns="0" bIns="0" rIns="0">
            <a:spAutoFit/>
          </a:bodyPr>
          <a:lstStyle/>
          <a:p>
            <a:pPr algn="l">
              <a:lnSpc>
                <a:spcPts val="2520"/>
              </a:lnSpc>
              <a:spcBef>
                <a:spcPct val="0"/>
              </a:spcBef>
            </a:pPr>
          </a:p>
          <a:p>
            <a:pPr/>
            <a:r>
              <a:t>Bias in algorithms and data</a:t>
            </a:r>
          </a:p>
          <a:p>
            <a:pPr/>
            <a:r>
              <a:t>Job displacement due to automation</a:t>
            </a:r>
          </a:p>
          <a:p>
            <a:pPr/>
            <a:r>
              <a:t>Privacy concerns and data security</a:t>
            </a:r>
          </a:p>
          <a:p>
            <a:pPr/>
            <a:r>
              <a:t>Potential for misuse in autonomous weapons</a:t>
            </a:r>
          </a:p>
          <a:p>
            <a:pPr/>
            <a:r>
              <a:t>Continued advancements in AI research and development</a:t>
            </a:r>
          </a:p>
        </p:txBody>
      </p:sp>
      <p:sp>
        <p:nvSpPr>
          <p:cNvPr name="TextBox 23" id="23"/>
          <p:cNvSpPr txBox="true"/>
          <p:nvPr/>
        </p:nvSpPr>
        <p:spPr>
          <a:xfrm rot="0">
            <a:off x="11170099" y="6788813"/>
            <a:ext cx="6089201" cy="15735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265594"/>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399367"/>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Mission</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5893572" y="548259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2700000">
            <a:off x="5383820" y="5578500"/>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0070427" y="640270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8" id="18"/>
          <p:cNvGrpSpPr/>
          <p:nvPr/>
        </p:nvGrpSpPr>
        <p:grpSpPr>
          <a:xfrm rot="-2700000">
            <a:off x="9560675" y="6498615"/>
            <a:ext cx="233141" cy="233141"/>
            <a:chOff x="0" y="0"/>
            <a:chExt cx="61403" cy="61403"/>
          </a:xfrm>
        </p:grpSpPr>
        <p:sp>
          <p:nvSpPr>
            <p:cNvPr name="Freeform 19" id="1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0" id="2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4247282" y="732282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2" id="22"/>
          <p:cNvGrpSpPr/>
          <p:nvPr/>
        </p:nvGrpSpPr>
        <p:grpSpPr>
          <a:xfrm rot="-2700000">
            <a:off x="13737530" y="7418730"/>
            <a:ext cx="233141" cy="233141"/>
            <a:chOff x="0" y="0"/>
            <a:chExt cx="61403" cy="61403"/>
          </a:xfrm>
        </p:grpSpPr>
        <p:sp>
          <p:nvSpPr>
            <p:cNvPr name="Freeform 23" id="23"/>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4" id="24"/>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Freeform 25" id="25"/>
          <p:cNvSpPr/>
          <p:nvPr/>
        </p:nvSpPr>
        <p:spPr>
          <a:xfrm flipH="true" flipV="false" rot="-10800000">
            <a:off x="0" y="6550118"/>
            <a:ext cx="6742017" cy="3736882"/>
          </a:xfrm>
          <a:custGeom>
            <a:avLst/>
            <a:gdLst/>
            <a:ahLst/>
            <a:cxnLst/>
            <a:rect r="r" b="b" t="t" l="l"/>
            <a:pathLst>
              <a:path h="3736882" w="6742017">
                <a:moveTo>
                  <a:pt x="6742017" y="0"/>
                </a:moveTo>
                <a:lnTo>
                  <a:pt x="0" y="0"/>
                </a:lnTo>
                <a:lnTo>
                  <a:pt x="0" y="3736882"/>
                </a:lnTo>
                <a:lnTo>
                  <a:pt x="6742017" y="3736882"/>
                </a:lnTo>
                <a:lnTo>
                  <a:pt x="67420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9546014"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9594299" y="2674899"/>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3737530" y="2674899"/>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2700000">
            <a:off x="9594299" y="5413566"/>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2700000">
            <a:off x="13737530" y="5413566"/>
            <a:ext cx="233141" cy="233141"/>
            <a:chOff x="0" y="0"/>
            <a:chExt cx="61403" cy="61403"/>
          </a:xfrm>
        </p:grpSpPr>
        <p:sp>
          <p:nvSpPr>
            <p:cNvPr name="Freeform 18" id="18"/>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9" id="19"/>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1028700" y="4466844"/>
            <a:ext cx="6696506" cy="5820156"/>
            <a:chOff x="0" y="0"/>
            <a:chExt cx="1037464" cy="901694"/>
          </a:xfrm>
        </p:grpSpPr>
        <p:sp>
          <p:nvSpPr>
            <p:cNvPr name="Freeform 21" id="21"/>
            <p:cNvSpPr/>
            <p:nvPr/>
          </p:nvSpPr>
          <p:spPr>
            <a:xfrm flipH="false" flipV="false" rot="0">
              <a:off x="0" y="0"/>
              <a:ext cx="1037464" cy="901694"/>
            </a:xfrm>
            <a:custGeom>
              <a:avLst/>
              <a:gdLst/>
              <a:ahLst/>
              <a:cxnLst/>
              <a:rect r="r" b="b" t="t" l="l"/>
              <a:pathLst>
                <a:path h="901694" w="1037464">
                  <a:moveTo>
                    <a:pt x="0" y="0"/>
                  </a:moveTo>
                  <a:lnTo>
                    <a:pt x="1037464" y="0"/>
                  </a:lnTo>
                  <a:lnTo>
                    <a:pt x="1037464" y="901694"/>
                  </a:lnTo>
                  <a:lnTo>
                    <a:pt x="0" y="901694"/>
                  </a:lnTo>
                  <a:close/>
                </a:path>
              </a:pathLst>
            </a:custGeom>
            <a:blipFill>
              <a:blip r:embed="rId2"/>
              <a:stretch>
                <a:fillRect l="-27256" t="0" r="-27256" b="0"/>
              </a:stretch>
            </a:blipFill>
          </p:spPr>
        </p:sp>
      </p:grpSp>
      <p:sp>
        <p:nvSpPr>
          <p:cNvPr name="Freeform 22" id="22"/>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028700" y="275482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What We Do?</a:t>
            </a:r>
          </a:p>
        </p:txBody>
      </p:sp>
      <p:sp>
        <p:nvSpPr>
          <p:cNvPr name="TextBox 24" id="2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5" id="2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6" id="2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7" id="2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8" id="28"/>
          <p:cNvSpPr txBox="true"/>
          <p:nvPr/>
        </p:nvSpPr>
        <p:spPr>
          <a:xfrm rot="0">
            <a:off x="10104051"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29" id="29"/>
          <p:cNvSpPr txBox="true"/>
          <p:nvPr/>
        </p:nvSpPr>
        <p:spPr>
          <a:xfrm rot="0">
            <a:off x="14247282"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0" id="30"/>
          <p:cNvSpPr txBox="true"/>
          <p:nvPr/>
        </p:nvSpPr>
        <p:spPr>
          <a:xfrm rot="0">
            <a:off x="10104051"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1" id="31"/>
          <p:cNvSpPr txBox="true"/>
          <p:nvPr/>
        </p:nvSpPr>
        <p:spPr>
          <a:xfrm rot="0">
            <a:off x="14247282"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687126"/>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820899"/>
            <a:ext cx="6601473"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Milestones</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1028700"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0">
            <a:off x="1028700" y="6578524"/>
            <a:ext cx="1100282" cy="452830"/>
            <a:chOff x="0" y="0"/>
            <a:chExt cx="289786" cy="119264"/>
          </a:xfrm>
        </p:grpSpPr>
        <p:sp>
          <p:nvSpPr>
            <p:cNvPr name="Freeform 15" id="1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16" id="1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166442"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2021</a:t>
            </a:r>
          </a:p>
        </p:txBody>
      </p:sp>
      <p:sp>
        <p:nvSpPr>
          <p:cNvPr name="TextBox 18" id="18"/>
          <p:cNvSpPr txBox="true"/>
          <p:nvPr/>
        </p:nvSpPr>
        <p:spPr>
          <a:xfrm rot="0">
            <a:off x="5434894"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9" id="19"/>
          <p:cNvGrpSpPr/>
          <p:nvPr/>
        </p:nvGrpSpPr>
        <p:grpSpPr>
          <a:xfrm rot="0">
            <a:off x="5434894" y="6578524"/>
            <a:ext cx="1100282" cy="452830"/>
            <a:chOff x="0" y="0"/>
            <a:chExt cx="289786" cy="119264"/>
          </a:xfrm>
        </p:grpSpPr>
        <p:sp>
          <p:nvSpPr>
            <p:cNvPr name="Freeform 20" id="2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1" id="2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5572636"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2022</a:t>
            </a:r>
          </a:p>
        </p:txBody>
      </p:sp>
      <p:sp>
        <p:nvSpPr>
          <p:cNvPr name="TextBox 23" id="23"/>
          <p:cNvSpPr txBox="true"/>
          <p:nvPr/>
        </p:nvSpPr>
        <p:spPr>
          <a:xfrm rot="0">
            <a:off x="9841088"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4" id="24"/>
          <p:cNvGrpSpPr/>
          <p:nvPr/>
        </p:nvGrpSpPr>
        <p:grpSpPr>
          <a:xfrm rot="0">
            <a:off x="9841088" y="6578524"/>
            <a:ext cx="1100282" cy="452830"/>
            <a:chOff x="0" y="0"/>
            <a:chExt cx="289786" cy="119264"/>
          </a:xfrm>
        </p:grpSpPr>
        <p:sp>
          <p:nvSpPr>
            <p:cNvPr name="Freeform 25" id="2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6" id="2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9978830"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2023</a:t>
            </a:r>
          </a:p>
        </p:txBody>
      </p:sp>
      <p:sp>
        <p:nvSpPr>
          <p:cNvPr name="TextBox 28" id="28"/>
          <p:cNvSpPr txBox="true"/>
          <p:nvPr/>
        </p:nvSpPr>
        <p:spPr>
          <a:xfrm rot="0">
            <a:off x="14247282"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9" id="29"/>
          <p:cNvGrpSpPr/>
          <p:nvPr/>
        </p:nvGrpSpPr>
        <p:grpSpPr>
          <a:xfrm rot="0">
            <a:off x="14247282" y="6578524"/>
            <a:ext cx="1100282" cy="452830"/>
            <a:chOff x="0" y="0"/>
            <a:chExt cx="289786" cy="119264"/>
          </a:xfrm>
        </p:grpSpPr>
        <p:sp>
          <p:nvSpPr>
            <p:cNvPr name="Freeform 30" id="3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31" id="3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4385024"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6541403" y="2732294"/>
            <a:ext cx="2287870" cy="2177191"/>
            <a:chOff x="0" y="0"/>
            <a:chExt cx="413845" cy="393825"/>
          </a:xfrm>
        </p:grpSpPr>
        <p:sp>
          <p:nvSpPr>
            <p:cNvPr name="Freeform 9" id="9"/>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2"/>
              <a:stretch>
                <a:fillRect l="-27895" t="-2541" r="-55309" b="-89976"/>
              </a:stretch>
            </a:blipFill>
          </p:spPr>
        </p:sp>
      </p:grpSp>
      <p:grpSp>
        <p:nvGrpSpPr>
          <p:cNvPr name="Group 10" id="10"/>
          <p:cNvGrpSpPr/>
          <p:nvPr/>
        </p:nvGrpSpPr>
        <p:grpSpPr>
          <a:xfrm rot="0">
            <a:off x="10492267" y="2732294"/>
            <a:ext cx="2287870" cy="2177191"/>
            <a:chOff x="0" y="0"/>
            <a:chExt cx="413845" cy="393825"/>
          </a:xfrm>
        </p:grpSpPr>
        <p:sp>
          <p:nvSpPr>
            <p:cNvPr name="Freeform 11" id="11"/>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3"/>
              <a:stretch>
                <a:fillRect l="-124903" t="-13499" r="-153010" b="-151084"/>
              </a:stretch>
            </a:blipFill>
          </p:spPr>
        </p:sp>
      </p:grpSp>
      <p:grpSp>
        <p:nvGrpSpPr>
          <p:cNvPr name="Group 12" id="12"/>
          <p:cNvGrpSpPr/>
          <p:nvPr/>
        </p:nvGrpSpPr>
        <p:grpSpPr>
          <a:xfrm rot="0">
            <a:off x="6541403" y="6376167"/>
            <a:ext cx="2287870" cy="2177191"/>
            <a:chOff x="0" y="0"/>
            <a:chExt cx="413845" cy="393825"/>
          </a:xfrm>
        </p:grpSpPr>
        <p:sp>
          <p:nvSpPr>
            <p:cNvPr name="Freeform 13" id="13"/>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4"/>
              <a:stretch>
                <a:fillRect l="-98496" t="-20079" r="-126201" b="-107247"/>
              </a:stretch>
            </a:blipFill>
          </p:spPr>
        </p:sp>
      </p:grpSp>
      <p:grpSp>
        <p:nvGrpSpPr>
          <p:cNvPr name="Group 14" id="14"/>
          <p:cNvGrpSpPr/>
          <p:nvPr/>
        </p:nvGrpSpPr>
        <p:grpSpPr>
          <a:xfrm rot="0">
            <a:off x="10492267" y="6376167"/>
            <a:ext cx="2287870" cy="2177191"/>
            <a:chOff x="0" y="0"/>
            <a:chExt cx="413845" cy="393825"/>
          </a:xfrm>
        </p:grpSpPr>
        <p:sp>
          <p:nvSpPr>
            <p:cNvPr name="Freeform 15" id="15"/>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5"/>
              <a:stretch>
                <a:fillRect l="-108004" t="0" r="-77665" b="-100377"/>
              </a:stretch>
            </a:blipFill>
          </p:spPr>
        </p:sp>
      </p:grpSp>
      <p:sp>
        <p:nvSpPr>
          <p:cNvPr name="Freeform 16" id="16"/>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28700" y="2754828"/>
            <a:ext cx="3976336" cy="326936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Meet Our Team</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6541403"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Aaron Loeb</a:t>
            </a:r>
          </a:p>
        </p:txBody>
      </p:sp>
      <p:sp>
        <p:nvSpPr>
          <p:cNvPr name="TextBox 23" id="23"/>
          <p:cNvSpPr txBox="true"/>
          <p:nvPr/>
        </p:nvSpPr>
        <p:spPr>
          <a:xfrm rot="0">
            <a:off x="6541403" y="5307722"/>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Manager</a:t>
            </a:r>
          </a:p>
        </p:txBody>
      </p:sp>
      <p:sp>
        <p:nvSpPr>
          <p:cNvPr name="TextBox 24" id="24"/>
          <p:cNvSpPr txBox="true"/>
          <p:nvPr/>
        </p:nvSpPr>
        <p:spPr>
          <a:xfrm rot="0">
            <a:off x="10492267"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Ndemi Otieno</a:t>
            </a:r>
          </a:p>
        </p:txBody>
      </p:sp>
      <p:sp>
        <p:nvSpPr>
          <p:cNvPr name="TextBox 25" id="25"/>
          <p:cNvSpPr txBox="true"/>
          <p:nvPr/>
        </p:nvSpPr>
        <p:spPr>
          <a:xfrm rot="0">
            <a:off x="10492267" y="5307722"/>
            <a:ext cx="2001190"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Creative Director</a:t>
            </a:r>
          </a:p>
        </p:txBody>
      </p:sp>
      <p:sp>
        <p:nvSpPr>
          <p:cNvPr name="TextBox 26" id="26"/>
          <p:cNvSpPr txBox="true"/>
          <p:nvPr/>
        </p:nvSpPr>
        <p:spPr>
          <a:xfrm rot="0">
            <a:off x="6541403"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Claudia Alves</a:t>
            </a:r>
          </a:p>
        </p:txBody>
      </p:sp>
      <p:sp>
        <p:nvSpPr>
          <p:cNvPr name="TextBox 27" id="27"/>
          <p:cNvSpPr txBox="true"/>
          <p:nvPr/>
        </p:nvSpPr>
        <p:spPr>
          <a:xfrm rot="0">
            <a:off x="6541403"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Marketer</a:t>
            </a:r>
          </a:p>
        </p:txBody>
      </p:sp>
      <p:sp>
        <p:nvSpPr>
          <p:cNvPr name="TextBox 28" id="28"/>
          <p:cNvSpPr txBox="true"/>
          <p:nvPr/>
        </p:nvSpPr>
        <p:spPr>
          <a:xfrm rot="0">
            <a:off x="10492267"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Sacha Dubois</a:t>
            </a:r>
          </a:p>
        </p:txBody>
      </p:sp>
      <p:sp>
        <p:nvSpPr>
          <p:cNvPr name="TextBox 29" id="29"/>
          <p:cNvSpPr txBox="true"/>
          <p:nvPr/>
        </p:nvSpPr>
        <p:spPr>
          <a:xfrm rot="0">
            <a:off x="10492267"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Copywriter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7899809"/>
            <a:ext cx="3401658" cy="452830"/>
            <a:chOff x="0" y="0"/>
            <a:chExt cx="895910" cy="119264"/>
          </a:xfrm>
        </p:grpSpPr>
        <p:sp>
          <p:nvSpPr>
            <p:cNvPr name="Freeform 6" id="6"/>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7" id="7"/>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8993564" y="8805470"/>
            <a:ext cx="3401658" cy="452830"/>
            <a:chOff x="0" y="0"/>
            <a:chExt cx="895910" cy="119264"/>
          </a:xfrm>
        </p:grpSpPr>
        <p:sp>
          <p:nvSpPr>
            <p:cNvPr name="Freeform 9" id="9"/>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0" id="10"/>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5010881" y="8352639"/>
            <a:ext cx="3401658" cy="452830"/>
            <a:chOff x="0" y="0"/>
            <a:chExt cx="895910" cy="119264"/>
          </a:xfrm>
        </p:grpSpPr>
        <p:sp>
          <p:nvSpPr>
            <p:cNvPr name="Freeform 12" id="12"/>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3" id="13"/>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8993564" y="2758898"/>
            <a:ext cx="9294436" cy="5140910"/>
            <a:chOff x="0" y="0"/>
            <a:chExt cx="1439951" cy="796462"/>
          </a:xfrm>
        </p:grpSpPr>
        <p:sp>
          <p:nvSpPr>
            <p:cNvPr name="Freeform 15" id="15"/>
            <p:cNvSpPr/>
            <p:nvPr/>
          </p:nvSpPr>
          <p:spPr>
            <a:xfrm flipH="false" flipV="false" rot="0">
              <a:off x="0" y="0"/>
              <a:ext cx="1439951" cy="796462"/>
            </a:xfrm>
            <a:custGeom>
              <a:avLst/>
              <a:gdLst/>
              <a:ahLst/>
              <a:cxnLst/>
              <a:rect r="r" b="b" t="t" l="l"/>
              <a:pathLst>
                <a:path h="796462" w="1439951">
                  <a:moveTo>
                    <a:pt x="0" y="0"/>
                  </a:moveTo>
                  <a:lnTo>
                    <a:pt x="1439951" y="0"/>
                  </a:lnTo>
                  <a:lnTo>
                    <a:pt x="1439951" y="796462"/>
                  </a:lnTo>
                  <a:lnTo>
                    <a:pt x="0" y="796462"/>
                  </a:lnTo>
                  <a:close/>
                </a:path>
              </a:pathLst>
            </a:custGeom>
            <a:blipFill>
              <a:blip r:embed="rId2"/>
              <a:stretch>
                <a:fillRect l="0" t="-10226" r="0" b="-10226"/>
              </a:stretch>
            </a:blipFill>
          </p:spPr>
        </p:sp>
      </p:grpSp>
      <p:sp>
        <p:nvSpPr>
          <p:cNvPr name="Freeform 16" id="16"/>
          <p:cNvSpPr/>
          <p:nvPr/>
        </p:nvSpPr>
        <p:spPr>
          <a:xfrm flipH="false" flipV="false" rot="0">
            <a:off x="13861959" y="4581531"/>
            <a:ext cx="4418886" cy="5705469"/>
          </a:xfrm>
          <a:custGeom>
            <a:avLst/>
            <a:gdLst/>
            <a:ahLst/>
            <a:cxnLst/>
            <a:rect r="r" b="b" t="t" l="l"/>
            <a:pathLst>
              <a:path h="5705469" w="4418886">
                <a:moveTo>
                  <a:pt x="0" y="0"/>
                </a:moveTo>
                <a:lnTo>
                  <a:pt x="4418885" y="0"/>
                </a:lnTo>
                <a:lnTo>
                  <a:pt x="4418885" y="5705469"/>
                </a:lnTo>
                <a:lnTo>
                  <a:pt x="0" y="5705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028700" y="4533906"/>
            <a:ext cx="1921529" cy="47625"/>
            <a:chOff x="0" y="0"/>
            <a:chExt cx="506082" cy="12543"/>
          </a:xfrm>
        </p:grpSpPr>
        <p:sp>
          <p:nvSpPr>
            <p:cNvPr name="Freeform 18" id="1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19" id="1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1028700" y="306369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Contact Us</a:t>
            </a:r>
          </a:p>
        </p:txBody>
      </p:sp>
      <p:sp>
        <p:nvSpPr>
          <p:cNvPr name="TextBox 21" id="2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2" id="2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3" id="2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4" id="24"/>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5" id="25"/>
          <p:cNvSpPr txBox="true"/>
          <p:nvPr/>
        </p:nvSpPr>
        <p:spPr>
          <a:xfrm rot="0">
            <a:off x="1305960" y="7953821"/>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+123-456-7890</a:t>
            </a:r>
          </a:p>
        </p:txBody>
      </p:sp>
      <p:sp>
        <p:nvSpPr>
          <p:cNvPr name="TextBox 26" id="26"/>
          <p:cNvSpPr txBox="true"/>
          <p:nvPr/>
        </p:nvSpPr>
        <p:spPr>
          <a:xfrm rot="0">
            <a:off x="9270824"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sp>
        <p:nvSpPr>
          <p:cNvPr name="TextBox 27" id="27"/>
          <p:cNvSpPr txBox="true"/>
          <p:nvPr/>
        </p:nvSpPr>
        <p:spPr>
          <a:xfrm rot="0">
            <a:off x="5149511" y="8406652"/>
            <a:ext cx="312439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hello@reallygreatsite.com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852383"/>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3649788"/>
            <a:ext cx="11248919" cy="2446654"/>
          </a:xfrm>
          <a:prstGeom prst="rect">
            <a:avLst/>
          </a:prstGeom>
        </p:spPr>
        <p:txBody>
          <a:bodyPr anchor="t" rtlCol="false" tIns="0" lIns="0" bIns="0" rIns="0">
            <a:spAutoFit/>
          </a:bodyPr>
          <a:lstStyle/>
          <a:p>
            <a:pPr algn="ctr">
              <a:lnSpc>
                <a:spcPts val="20020"/>
              </a:lnSpc>
              <a:spcBef>
                <a:spcPct val="0"/>
              </a:spcBef>
            </a:pPr>
            <a:r>
              <a:rPr lang="en-US" sz="14300" spc="-1101">
                <a:solidFill>
                  <a:srgbClr val="000000"/>
                </a:solidFill>
                <a:latin typeface="DM Sans"/>
                <a:ea typeface="DM Sans"/>
                <a:cs typeface="DM Sans"/>
                <a:sym typeface="DM Sans"/>
              </a:rPr>
              <a:t>Thank You</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grpSp>
        <p:nvGrpSpPr>
          <p:cNvPr name="Group 18" id="18"/>
          <p:cNvGrpSpPr/>
          <p:nvPr/>
        </p:nvGrpSpPr>
        <p:grpSpPr>
          <a:xfrm rot="-2700000">
            <a:off x="15484336" y="4852383"/>
            <a:ext cx="317690" cy="317690"/>
            <a:chOff x="0" y="0"/>
            <a:chExt cx="83671" cy="83671"/>
          </a:xfrm>
        </p:grpSpPr>
        <p:sp>
          <p:nvSpPr>
            <p:cNvPr name="Freeform 19" id="19"/>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0" id="20"/>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DAGzsAbcGlM</dc:identifier>
  <dcterms:modified xsi:type="dcterms:W3CDTF">2011-08-01T06:04:30Z</dcterms:modified>
  <cp:revision>1</cp:revision>
  <dc:title>Template 1</dc:title>
</cp:coreProperties>
</file>